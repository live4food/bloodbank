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3" r:id="rId1"/>
  </p:sldMasterIdLst>
  <p:sldIdLst>
    <p:sldId id="256" r:id="rId2"/>
    <p:sldId id="257" r:id="rId3"/>
    <p:sldId id="258" r:id="rId4"/>
    <p:sldId id="259" r:id="rId5"/>
    <p:sldId id="260" r:id="rId6"/>
    <p:sldId id="261" r:id="rId7"/>
    <p:sldId id="268" r:id="rId8"/>
    <p:sldId id="269" r:id="rId9"/>
    <p:sldId id="270" r:id="rId10"/>
    <p:sldId id="271" r:id="rId11"/>
    <p:sldId id="262" r:id="rId12"/>
    <p:sldId id="263" r:id="rId13"/>
    <p:sldId id="264" r:id="rId14"/>
    <p:sldId id="265" r:id="rId15"/>
    <p:sldId id="266" r:id="rId16"/>
    <p:sldId id="267"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60"/>
  </p:normalViewPr>
  <p:slideViewPr>
    <p:cSldViewPr snapToGrid="0" snapToObjects="1">
      <p:cViewPr>
        <p:scale>
          <a:sx n="66" d="100"/>
          <a:sy n="66" d="100"/>
        </p:scale>
        <p:origin x="936" y="1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0121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9003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0531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1231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11/7/2025</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6356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11/7/2025</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8768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11/7/2025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7136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8695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3161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2705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72438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4743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24354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6007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8859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4034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11/7/2025</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56650888"/>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1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2299" y="1166219"/>
            <a:ext cx="6600451" cy="2262781"/>
          </a:xfrm>
        </p:spPr>
        <p:txBody>
          <a:bodyPr>
            <a:normAutofit/>
          </a:bodyPr>
          <a:lstStyle/>
          <a:p>
            <a:r>
              <a:rPr dirty="0">
                <a:latin typeface="Times New Roman" panose="02020603050405020304" pitchFamily="18" charset="0"/>
                <a:cs typeface="Times New Roman" panose="02020603050405020304" pitchFamily="18" charset="0"/>
              </a:rPr>
              <a:t>Blood Bank Management System</a:t>
            </a:r>
          </a:p>
        </p:txBody>
      </p:sp>
      <p:sp>
        <p:nvSpPr>
          <p:cNvPr id="6" name="TextBox 5">
            <a:extLst>
              <a:ext uri="{FF2B5EF4-FFF2-40B4-BE49-F238E27FC236}">
                <a16:creationId xmlns:a16="http://schemas.microsoft.com/office/drawing/2014/main" id="{4F4E6AD4-1021-3A4F-549F-41F07C10B3B9}"/>
              </a:ext>
            </a:extLst>
          </p:cNvPr>
          <p:cNvSpPr txBox="1"/>
          <p:nvPr/>
        </p:nvSpPr>
        <p:spPr>
          <a:xfrm>
            <a:off x="5139891" y="3850105"/>
            <a:ext cx="3840480" cy="1754326"/>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Team members:</a:t>
            </a:r>
          </a:p>
          <a:p>
            <a:pPr lvl="1"/>
            <a:r>
              <a:rPr lang="en-IN" dirty="0">
                <a:latin typeface="Times New Roman" panose="02020603050405020304" pitchFamily="18" charset="0"/>
                <a:cs typeface="Times New Roman" panose="02020603050405020304" pitchFamily="18" charset="0"/>
              </a:rPr>
              <a:t>	Nandhakumar </a:t>
            </a:r>
          </a:p>
          <a:p>
            <a:pPr lvl="1"/>
            <a:r>
              <a:rPr lang="en-IN" dirty="0">
                <a:latin typeface="Times New Roman" panose="02020603050405020304" pitchFamily="18" charset="0"/>
                <a:cs typeface="Times New Roman" panose="02020603050405020304" pitchFamily="18" charset="0"/>
              </a:rPr>
              <a:t>	Albin Nelson</a:t>
            </a:r>
          </a:p>
          <a:p>
            <a:pPr lvl="1"/>
            <a:r>
              <a:rPr lang="en-IN" dirty="0">
                <a:latin typeface="Times New Roman" panose="02020603050405020304" pitchFamily="18" charset="0"/>
                <a:cs typeface="Times New Roman" panose="02020603050405020304" pitchFamily="18" charset="0"/>
              </a:rPr>
              <a:t>	Gokul Rajesh</a:t>
            </a:r>
          </a:p>
          <a:p>
            <a:pPr lvl="1"/>
            <a:r>
              <a:rPr lang="en-IN" dirty="0">
                <a:latin typeface="Times New Roman" panose="02020603050405020304" pitchFamily="18" charset="0"/>
                <a:cs typeface="Times New Roman" panose="02020603050405020304" pitchFamily="18" charset="0"/>
              </a:rPr>
              <a:t>	Priyadharshini </a:t>
            </a:r>
          </a:p>
          <a:p>
            <a:pPr lvl="1"/>
            <a:r>
              <a:rPr lang="en-IN" dirty="0">
                <a:latin typeface="Times New Roman" panose="02020603050405020304" pitchFamily="18" charset="0"/>
                <a:cs typeface="Times New Roman" panose="02020603050405020304" pitchFamily="18" charset="0"/>
              </a:rPr>
              <a:t>	Sudharson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pPr algn="just">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Blood Bank Management System</a:t>
            </a:r>
            <a:r>
              <a:rPr lang="en-US" sz="1800" dirty="0">
                <a:latin typeface="Times New Roman" panose="02020603050405020304" pitchFamily="18" charset="0"/>
                <a:cs typeface="Times New Roman" panose="02020603050405020304" pitchFamily="18" charset="0"/>
              </a:rPr>
              <a:t> is a Java-based application designed to efficiently manage the storage, availability, and distribution of blood units in hospitals or blood banks. The system helps doctors and patients interact with the blood bank through a simple command-line interface.</a:t>
            </a:r>
          </a:p>
          <a:p>
            <a:pPr algn="just">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It ensures that blood donation and request processes are accurate, fast, and safe, eliminating manual record-keeping and reducing human error.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Objective of the Project</a:t>
            </a:r>
          </a:p>
        </p:txBody>
      </p:sp>
      <p:sp>
        <p:nvSpPr>
          <p:cNvPr id="3" name="Content Placeholder 2"/>
          <p:cNvSpPr>
            <a:spLocks noGrp="1"/>
          </p:cNvSpPr>
          <p:nvPr>
            <p:ph idx="1"/>
          </p:nvPr>
        </p:nvSpPr>
        <p:spPr/>
        <p:txBody>
          <a:bodyPr>
            <a:normAutofit/>
          </a:bodyPr>
          <a:lstStyle/>
          <a:p>
            <a:pPr algn="just">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automate the process of managing blood units.</a:t>
            </a:r>
          </a:p>
          <a:p>
            <a:pPr algn="just">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allow doctors to add, remove, and monitor blood availability.</a:t>
            </a:r>
          </a:p>
          <a:p>
            <a:pPr algn="just">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allow patients to view and request specific blood groups.</a:t>
            </a:r>
          </a:p>
          <a:p>
            <a:pPr algn="just">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ensure reliability, accuracy, and speed in blood management.</a:t>
            </a:r>
          </a:p>
          <a:p>
            <a:pPr algn="just">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build a portable Java application that works on any operating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About the Project</a:t>
            </a:r>
          </a:p>
        </p:txBody>
      </p:sp>
      <p:sp>
        <p:nvSpPr>
          <p:cNvPr id="3" name="Content Placeholder 2"/>
          <p:cNvSpPr>
            <a:spLocks noGrp="1"/>
          </p:cNvSpPr>
          <p:nvPr>
            <p:ph idx="1"/>
          </p:nvPr>
        </p:nvSpPr>
        <p:spPr/>
        <p:txBody>
          <a:bodyPr>
            <a:normAutofit fontScale="92500"/>
          </a:bodyPr>
          <a:lstStyle/>
          <a:p>
            <a:pPr>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Blood Bank Management System is a standalone console-based Java application.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It focuses on two main users:</a:t>
            </a:r>
          </a:p>
          <a:p>
            <a:pPr lvl="1" algn="just">
              <a:lnSpc>
                <a:spcPct val="150000"/>
              </a:lnSpc>
              <a:buSzPct val="11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Doctors – who manage blood stock and requests.</a:t>
            </a:r>
          </a:p>
          <a:p>
            <a:pPr lvl="1" algn="just">
              <a:lnSpc>
                <a:spcPct val="150000"/>
              </a:lnSpc>
              <a:buSzPct val="11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Patients – who can check available blood and make requests.</a:t>
            </a:r>
          </a:p>
          <a:p>
            <a:pPr lvl="1" algn="just">
              <a:lnSpc>
                <a:spcPct val="150000"/>
              </a:lnSpc>
              <a:buSzPct val="11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uses Java Collections (HashMap) to store and retrieve data efficiently. It handles invalid inputs gracefully and can be easily extended or upgraded due to its modular design.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Project Details</a:t>
            </a:r>
          </a:p>
        </p:txBody>
      </p:sp>
      <p:sp>
        <p:nvSpPr>
          <p:cNvPr id="3" name="Content Placeholder 2"/>
          <p:cNvSpPr>
            <a:spLocks noGrp="1"/>
          </p:cNvSpPr>
          <p:nvPr>
            <p:ph idx="1"/>
          </p:nvPr>
        </p:nvSpPr>
        <p:spPr/>
        <p:txBody>
          <a:bodyPr>
            <a:normAutofit/>
          </a:bodyPr>
          <a:lstStyle/>
          <a:p>
            <a:pPr algn="just">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Project Title: Blood Bank Management System</a:t>
            </a:r>
            <a:endParaRPr lang="en-IN" sz="18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Platform: Java</a:t>
            </a:r>
            <a:endParaRPr lang="en-IN" sz="18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Technologies: Core Java, HashMap, Exception Handling, OOPs</a:t>
            </a:r>
            <a:endParaRPr lang="en-IN" sz="18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Type: Console-based</a:t>
            </a:r>
            <a:endParaRPr lang="en-IN" sz="18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Team Size: </a:t>
            </a:r>
            <a:r>
              <a:rPr lang="en-IN" sz="1800" dirty="0">
                <a:latin typeface="Times New Roman" panose="02020603050405020304" pitchFamily="18" charset="0"/>
                <a:cs typeface="Times New Roman" panose="02020603050405020304" pitchFamily="18" charset="0"/>
              </a:rPr>
              <a:t>5</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Major Modules</a:t>
            </a:r>
          </a:p>
        </p:txBody>
      </p:sp>
      <p:sp>
        <p:nvSpPr>
          <p:cNvPr id="3" name="Content Placeholder 2"/>
          <p:cNvSpPr>
            <a:spLocks noGrp="1"/>
          </p:cNvSpPr>
          <p:nvPr>
            <p:ph idx="1"/>
          </p:nvPr>
        </p:nvSpPr>
        <p:spPr>
          <a:xfrm>
            <a:off x="274320" y="1353312"/>
            <a:ext cx="8412480" cy="5102352"/>
          </a:xfrm>
        </p:spPr>
        <p:txBody>
          <a:bodyPr>
            <a:noAutofit/>
          </a:bodyPr>
          <a:lstStyle/>
          <a:p>
            <a:pPr marL="0" indent="0" algn="just">
              <a:buNone/>
            </a:pPr>
            <a:r>
              <a:rPr lang="en-US" sz="1800" b="1" dirty="0">
                <a:latin typeface="Times New Roman" panose="02020603050405020304" pitchFamily="18" charset="0"/>
                <a:cs typeface="Times New Roman" panose="02020603050405020304" pitchFamily="18" charset="0"/>
              </a:rPr>
              <a:t>1. Doctor Module</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Add or remove blood units.</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View available blood groups and quantities.</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Approve or reject patient blood requests.</a:t>
            </a:r>
          </a:p>
          <a:p>
            <a:pPr lvl="1"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pic>
        <p:nvPicPr>
          <p:cNvPr id="11" name="Picture 10" descr="A screen shot of a computer program&#10;&#10;AI-generated content may be incorrect.">
            <a:extLst>
              <a:ext uri="{FF2B5EF4-FFF2-40B4-BE49-F238E27FC236}">
                <a16:creationId xmlns:a16="http://schemas.microsoft.com/office/drawing/2014/main" id="{7E01570F-8EBA-63AD-343D-7ED58FB9B76D}"/>
              </a:ext>
            </a:extLst>
          </p:cNvPr>
          <p:cNvPicPr>
            <a:picLocks noChangeAspect="1"/>
          </p:cNvPicPr>
          <p:nvPr/>
        </p:nvPicPr>
        <p:blipFill>
          <a:blip r:embed="rId2"/>
          <a:stretch>
            <a:fillRect/>
          </a:stretch>
        </p:blipFill>
        <p:spPr>
          <a:xfrm>
            <a:off x="3424275" y="3001615"/>
            <a:ext cx="4984997" cy="372983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A1800D-AB76-0DF0-97A3-2A2B2435930F}"/>
              </a:ext>
            </a:extLst>
          </p:cNvPr>
          <p:cNvSpPr>
            <a:spLocks noGrp="1"/>
          </p:cNvSpPr>
          <p:nvPr>
            <p:ph idx="1"/>
          </p:nvPr>
        </p:nvSpPr>
        <p:spPr>
          <a:xfrm>
            <a:off x="1316773" y="320841"/>
            <a:ext cx="8269990" cy="6537159"/>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2. Patient Module</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View available blood groups and stock levels.</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Request specific blood groups for medical purposes.</a:t>
            </a:r>
          </a:p>
          <a:p>
            <a:endParaRPr lang="en-IN" sz="1200" dirty="0"/>
          </a:p>
        </p:txBody>
      </p:sp>
      <p:pic>
        <p:nvPicPr>
          <p:cNvPr id="5" name="Picture 4" descr="A black background with white text&#10;&#10;AI-generated content may be incorrect.">
            <a:extLst>
              <a:ext uri="{FF2B5EF4-FFF2-40B4-BE49-F238E27FC236}">
                <a16:creationId xmlns:a16="http://schemas.microsoft.com/office/drawing/2014/main" id="{7C43429E-6F32-016E-2D52-9FF3701C6B8E}"/>
              </a:ext>
            </a:extLst>
          </p:cNvPr>
          <p:cNvPicPr>
            <a:picLocks noChangeAspect="1"/>
          </p:cNvPicPr>
          <p:nvPr/>
        </p:nvPicPr>
        <p:blipFill>
          <a:blip r:embed="rId2"/>
          <a:srcRect r="35741"/>
          <a:stretch>
            <a:fillRect/>
          </a:stretch>
        </p:blipFill>
        <p:spPr>
          <a:xfrm>
            <a:off x="3308306" y="2318969"/>
            <a:ext cx="5123426" cy="3600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74677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BAA61D-9211-C551-B62E-8D46A6BD3AE2}"/>
              </a:ext>
            </a:extLst>
          </p:cNvPr>
          <p:cNvSpPr>
            <a:spLocks noGrp="1"/>
          </p:cNvSpPr>
          <p:nvPr>
            <p:ph idx="1"/>
          </p:nvPr>
        </p:nvSpPr>
        <p:spPr>
          <a:xfrm>
            <a:off x="1355274" y="110035"/>
            <a:ext cx="7788726" cy="6050133"/>
          </a:xfrm>
        </p:spPr>
        <p:txBody>
          <a:bodyPr/>
          <a:lstStyle/>
          <a:p>
            <a:pPr marL="0" indent="0" algn="just">
              <a:buNone/>
            </a:pPr>
            <a:r>
              <a:rPr lang="en-US" b="1" dirty="0">
                <a:latin typeface="Times New Roman" panose="02020603050405020304" pitchFamily="18" charset="0"/>
                <a:cs typeface="Times New Roman" panose="02020603050405020304" pitchFamily="18" charset="0"/>
              </a:rPr>
              <a:t>3. Availability Module</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Displays all current blood stocks (group → quantity).</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Updates automatically when doctors add or dispatch blood.</a:t>
            </a:r>
          </a:p>
          <a:p>
            <a:pPr marL="0" indent="0">
              <a:buNone/>
            </a:pPr>
            <a:endParaRPr lang="en-IN" dirty="0"/>
          </a:p>
        </p:txBody>
      </p:sp>
      <p:pic>
        <p:nvPicPr>
          <p:cNvPr id="5" name="Picture 4" descr="A screenshot of a computer program&#10;&#10;AI-generated content may be incorrect.">
            <a:extLst>
              <a:ext uri="{FF2B5EF4-FFF2-40B4-BE49-F238E27FC236}">
                <a16:creationId xmlns:a16="http://schemas.microsoft.com/office/drawing/2014/main" id="{86BA8F9E-0B9E-B3EE-FA90-CF0199139423}"/>
              </a:ext>
            </a:extLst>
          </p:cNvPr>
          <p:cNvPicPr>
            <a:picLocks noChangeAspect="1"/>
          </p:cNvPicPr>
          <p:nvPr/>
        </p:nvPicPr>
        <p:blipFill>
          <a:blip r:embed="rId2"/>
          <a:srcRect r="28479"/>
          <a:stretch>
            <a:fillRect/>
          </a:stretch>
        </p:blipFill>
        <p:spPr>
          <a:xfrm>
            <a:off x="3312459" y="1828063"/>
            <a:ext cx="5003769" cy="40536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84774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DEFA6F-654E-4BD0-1A40-116016CA7A00}"/>
              </a:ext>
            </a:extLst>
          </p:cNvPr>
          <p:cNvSpPr>
            <a:spLocks noGrp="1"/>
          </p:cNvSpPr>
          <p:nvPr>
            <p:ph idx="1"/>
          </p:nvPr>
        </p:nvSpPr>
        <p:spPr>
          <a:xfrm>
            <a:off x="1528529" y="478055"/>
            <a:ext cx="6591985" cy="3777622"/>
          </a:xfrm>
        </p:spPr>
        <p:txBody>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4. Request Module</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Handles patient blood requests.</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Checks stock availability and updates records.</a:t>
            </a:r>
            <a:endParaRPr lang="en-IN" dirty="0"/>
          </a:p>
          <a:p>
            <a:pPr marL="0" indent="0">
              <a:buNone/>
            </a:pPr>
            <a:endParaRPr lang="en-IN" dirty="0"/>
          </a:p>
        </p:txBody>
      </p:sp>
      <p:pic>
        <p:nvPicPr>
          <p:cNvPr id="5" name="Picture 4" descr="A screen shot of a computer&#10;&#10;AI-generated content may be incorrect.">
            <a:extLst>
              <a:ext uri="{FF2B5EF4-FFF2-40B4-BE49-F238E27FC236}">
                <a16:creationId xmlns:a16="http://schemas.microsoft.com/office/drawing/2014/main" id="{CEAB80A9-B7CC-747A-964A-27BF9D3005A9}"/>
              </a:ext>
            </a:extLst>
          </p:cNvPr>
          <p:cNvPicPr>
            <a:picLocks noChangeAspect="1"/>
          </p:cNvPicPr>
          <p:nvPr/>
        </p:nvPicPr>
        <p:blipFill>
          <a:blip r:embed="rId2"/>
          <a:stretch>
            <a:fillRect/>
          </a:stretch>
        </p:blipFill>
        <p:spPr>
          <a:xfrm>
            <a:off x="3436218" y="2403673"/>
            <a:ext cx="5026370" cy="37776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4708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0CE20-C90B-D002-BDA1-F0684DD80AB6}"/>
              </a:ext>
            </a:extLst>
          </p:cNvPr>
          <p:cNvSpPr>
            <a:spLocks noGrp="1"/>
          </p:cNvSpPr>
          <p:nvPr>
            <p:ph idx="1"/>
          </p:nvPr>
        </p:nvSpPr>
        <p:spPr>
          <a:xfrm>
            <a:off x="1345648" y="632059"/>
            <a:ext cx="6591985" cy="3777622"/>
          </a:xfrm>
        </p:spPr>
        <p:txBody>
          <a:bodyPr/>
          <a:lstStyle/>
          <a:p>
            <a:pPr marL="0" indent="0" algn="just">
              <a:buNone/>
            </a:pPr>
            <a:r>
              <a:rPr lang="en-US" b="1" dirty="0">
                <a:latin typeface="Times New Roman" panose="02020603050405020304" pitchFamily="18" charset="0"/>
                <a:cs typeface="Times New Roman" panose="02020603050405020304" pitchFamily="18" charset="0"/>
              </a:rPr>
              <a:t>5. Reports Module</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Generates summaries such as total stock, requests processed, and blood issued.</a:t>
            </a:r>
          </a:p>
          <a:p>
            <a:pPr marL="0" indent="0" algn="just">
              <a:buNone/>
            </a:pPr>
            <a:endParaRPr lang="en-IN" dirty="0"/>
          </a:p>
        </p:txBody>
      </p:sp>
      <p:pic>
        <p:nvPicPr>
          <p:cNvPr id="5" name="Picture 4" descr="A screenshot of a computer program">
            <a:extLst>
              <a:ext uri="{FF2B5EF4-FFF2-40B4-BE49-F238E27FC236}">
                <a16:creationId xmlns:a16="http://schemas.microsoft.com/office/drawing/2014/main" id="{8E28E7BD-3235-7DA4-CC66-D3BA0846924A}"/>
              </a:ext>
            </a:extLst>
          </p:cNvPr>
          <p:cNvPicPr>
            <a:picLocks noChangeAspect="1"/>
          </p:cNvPicPr>
          <p:nvPr/>
        </p:nvPicPr>
        <p:blipFill>
          <a:blip r:embed="rId2"/>
          <a:srcRect l="1" r="-7121"/>
          <a:stretch>
            <a:fillRect/>
          </a:stretch>
        </p:blipFill>
        <p:spPr>
          <a:xfrm>
            <a:off x="3490761" y="1737388"/>
            <a:ext cx="5316355" cy="4631091"/>
          </a:xfrm>
          <a:prstGeom prst="rect">
            <a:avLst/>
          </a:prstGeom>
        </p:spPr>
      </p:pic>
    </p:spTree>
    <p:extLst>
      <p:ext uri="{BB962C8B-B14F-4D97-AF65-F5344CB8AC3E}">
        <p14:creationId xmlns:p14="http://schemas.microsoft.com/office/powerpoint/2010/main" val="3482939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Roles</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IN" sz="1800" dirty="0">
                <a:latin typeface="Times New Roman" panose="02020603050405020304" pitchFamily="18" charset="0"/>
                <a:cs typeface="Times New Roman" panose="02020603050405020304" pitchFamily="18" charset="0"/>
              </a:rPr>
              <a:t>Nandhakumar- Dispatch, Integration</a:t>
            </a:r>
          </a:p>
          <a:p>
            <a:pPr algn="just"/>
            <a:r>
              <a:rPr lang="en-IN" sz="1800" dirty="0">
                <a:latin typeface="Times New Roman" panose="02020603050405020304" pitchFamily="18" charset="0"/>
                <a:cs typeface="Times New Roman" panose="02020603050405020304" pitchFamily="18" charset="0"/>
              </a:rPr>
              <a:t>Albin Nelson - Menu, Collection framework, Integration</a:t>
            </a:r>
          </a:p>
          <a:p>
            <a:pPr algn="just"/>
            <a:r>
              <a:rPr lang="en-IN" sz="1800" dirty="0">
                <a:latin typeface="Times New Roman" panose="02020603050405020304" pitchFamily="18" charset="0"/>
                <a:cs typeface="Times New Roman" panose="02020603050405020304" pitchFamily="18" charset="0"/>
              </a:rPr>
              <a:t>Priyadharshini – Availability, Request</a:t>
            </a:r>
          </a:p>
          <a:p>
            <a:pPr algn="just"/>
            <a:r>
              <a:rPr lang="en-IN" sz="1800" dirty="0">
                <a:latin typeface="Times New Roman" panose="02020603050405020304" pitchFamily="18" charset="0"/>
                <a:cs typeface="Times New Roman" panose="02020603050405020304" pitchFamily="18" charset="0"/>
              </a:rPr>
              <a:t>Gokul Rajesh –Adding reports , Displaying reports</a:t>
            </a:r>
          </a:p>
          <a:p>
            <a:pPr algn="just"/>
            <a:r>
              <a:rPr lang="en-IN" sz="1800" dirty="0">
                <a:latin typeface="Times New Roman" panose="02020603050405020304" pitchFamily="18" charset="0"/>
                <a:cs typeface="Times New Roman" panose="02020603050405020304" pitchFamily="18" charset="0"/>
              </a:rPr>
              <a:t>Sudharson – Patient request, removing .</a:t>
            </a:r>
          </a:p>
          <a:p>
            <a:pPr algn="just"/>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Duration</a:t>
            </a:r>
          </a:p>
        </p:txBody>
      </p:sp>
      <p:sp>
        <p:nvSpPr>
          <p:cNvPr id="3" name="Content Placeholder 2"/>
          <p:cNvSpPr>
            <a:spLocks noGrp="1"/>
          </p:cNvSpPr>
          <p:nvPr>
            <p:ph idx="1"/>
          </p:nvPr>
        </p:nvSpPr>
        <p:spPr/>
        <p:txBody>
          <a:bodyPr>
            <a:normAutofit/>
          </a:bodyPr>
          <a:lstStyle/>
          <a:p>
            <a:pPr>
              <a:lnSpc>
                <a:spcPct val="150000"/>
              </a:lnSpc>
              <a:buSzPct val="150000"/>
            </a:pPr>
            <a:r>
              <a:rPr sz="1800" dirty="0">
                <a:latin typeface="Times New Roman" panose="02020603050405020304" pitchFamily="18" charset="0"/>
                <a:cs typeface="Times New Roman" panose="02020603050405020304" pitchFamily="18" charset="0"/>
              </a:rPr>
              <a:t>Project Start Date: </a:t>
            </a:r>
            <a:r>
              <a:rPr lang="en-IN" sz="1800" dirty="0">
                <a:latin typeface="Times New Roman" panose="02020603050405020304" pitchFamily="18" charset="0"/>
                <a:cs typeface="Times New Roman" panose="02020603050405020304" pitchFamily="18" charset="0"/>
              </a:rPr>
              <a:t>02/11/2025</a:t>
            </a:r>
          </a:p>
          <a:p>
            <a:pPr>
              <a:lnSpc>
                <a:spcPct val="150000"/>
              </a:lnSpc>
              <a:buSzPct val="150000"/>
            </a:pPr>
            <a:r>
              <a:rPr sz="1800" dirty="0">
                <a:latin typeface="Times New Roman" panose="02020603050405020304" pitchFamily="18" charset="0"/>
                <a:cs typeface="Times New Roman" panose="02020603050405020304" pitchFamily="18" charset="0"/>
              </a:rPr>
              <a:t>Project End Date: </a:t>
            </a:r>
            <a:r>
              <a:rPr lang="en-IN" sz="1800" dirty="0">
                <a:latin typeface="Times New Roman" panose="02020603050405020304" pitchFamily="18" charset="0"/>
                <a:cs typeface="Times New Roman" panose="02020603050405020304" pitchFamily="18" charset="0"/>
              </a:rPr>
              <a:t>03/11/2025</a:t>
            </a:r>
          </a:p>
          <a:p>
            <a:pPr>
              <a:lnSpc>
                <a:spcPct val="150000"/>
              </a:lnSpc>
              <a:buSzPct val="150000"/>
            </a:pPr>
            <a:r>
              <a:rPr sz="1800" dirty="0">
                <a:latin typeface="Times New Roman" panose="02020603050405020304" pitchFamily="18" charset="0"/>
                <a:cs typeface="Times New Roman" panose="02020603050405020304" pitchFamily="18" charset="0"/>
              </a:rPr>
              <a:t>Total Duration:</a:t>
            </a:r>
            <a:r>
              <a:rPr lang="en-IN" sz="1800" dirty="0">
                <a:latin typeface="Times New Roman" panose="02020603050405020304" pitchFamily="18" charset="0"/>
                <a:cs typeface="Times New Roman" panose="02020603050405020304" pitchFamily="18" charset="0"/>
              </a:rPr>
              <a:t>2 days</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Approach</a:t>
            </a:r>
          </a:p>
        </p:txBody>
      </p:sp>
      <p:sp>
        <p:nvSpPr>
          <p:cNvPr id="3" name="Content Placeholder 2"/>
          <p:cNvSpPr>
            <a:spLocks noGrp="1"/>
          </p:cNvSpPr>
          <p:nvPr>
            <p:ph idx="1"/>
          </p:nvPr>
        </p:nvSpPr>
        <p:spPr/>
        <p:txBody>
          <a:bodyPr>
            <a:normAutofit/>
          </a:bodyPr>
          <a:lstStyle/>
          <a:p>
            <a:pPr>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Requirement Analysis</a:t>
            </a:r>
            <a:endParaRPr lang="en-IN" sz="1800" dirty="0">
              <a:latin typeface="Times New Roman" panose="02020603050405020304" pitchFamily="18" charset="0"/>
              <a:cs typeface="Times New Roman" panose="02020603050405020304" pitchFamily="18" charset="0"/>
            </a:endParaRPr>
          </a:p>
          <a:p>
            <a:pPr>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System Design</a:t>
            </a:r>
            <a:endParaRPr lang="en-IN" sz="1800" dirty="0">
              <a:latin typeface="Times New Roman" panose="02020603050405020304" pitchFamily="18" charset="0"/>
              <a:cs typeface="Times New Roman" panose="02020603050405020304" pitchFamily="18" charset="0"/>
            </a:endParaRPr>
          </a:p>
          <a:p>
            <a:pPr>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Implementation</a:t>
            </a:r>
            <a:endParaRPr lang="en-IN" sz="1800" dirty="0">
              <a:latin typeface="Times New Roman" panose="02020603050405020304" pitchFamily="18" charset="0"/>
              <a:cs typeface="Times New Roman" panose="02020603050405020304" pitchFamily="18" charset="0"/>
            </a:endParaRPr>
          </a:p>
          <a:p>
            <a:pPr>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Testing</a:t>
            </a:r>
            <a:endParaRPr lang="en-IN" sz="1800" dirty="0">
              <a:latin typeface="Times New Roman" panose="02020603050405020304" pitchFamily="18" charset="0"/>
              <a:cs typeface="Times New Roman" panose="02020603050405020304" pitchFamily="18" charset="0"/>
            </a:endParaRPr>
          </a:p>
          <a:p>
            <a:pPr>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Deployment</a:t>
            </a:r>
            <a:endParaRPr lang="en-IN" sz="1800" dirty="0">
              <a:latin typeface="Times New Roman" panose="02020603050405020304" pitchFamily="18" charset="0"/>
              <a:cs typeface="Times New Roman" panose="02020603050405020304" pitchFamily="18" charset="0"/>
            </a:endParaRPr>
          </a:p>
          <a:p>
            <a:pPr>
              <a:lnSpc>
                <a:spcPct val="150000"/>
              </a:lnSpc>
              <a:buSzPct val="150000"/>
              <a:buFont typeface="Arial" panose="020B0604020202020204" pitchFamily="34" charset="0"/>
              <a:buChar char="•"/>
            </a:pPr>
            <a:r>
              <a:rPr sz="1800" dirty="0">
                <a:latin typeface="Times New Roman" panose="02020603050405020304" pitchFamily="18" charset="0"/>
                <a:cs typeface="Times New Roman" panose="02020603050405020304" pitchFamily="18" charset="0"/>
              </a:rPr>
              <a:t>Reporting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Reports</a:t>
            </a:r>
          </a:p>
        </p:txBody>
      </p:sp>
      <p:sp>
        <p:nvSpPr>
          <p:cNvPr id="3" name="Content Placeholder 2"/>
          <p:cNvSpPr>
            <a:spLocks noGrp="1"/>
          </p:cNvSpPr>
          <p:nvPr>
            <p:ph idx="1"/>
          </p:nvPr>
        </p:nvSpPr>
        <p:spPr/>
        <p:txBody>
          <a:bodyPr>
            <a:normAutofit fontScale="92500" lnSpcReduction="20000"/>
          </a:bodyPr>
          <a:lstStyle/>
          <a:p>
            <a:pPr>
              <a:lnSpc>
                <a:spcPct val="150000"/>
              </a:lnSpc>
              <a:buSzPct val="150000"/>
            </a:pPr>
            <a:r>
              <a:rPr lang="en-US" sz="1800" b="1" dirty="0">
                <a:latin typeface="Times New Roman" panose="02020603050405020304" pitchFamily="18" charset="0"/>
                <a:cs typeface="Times New Roman" panose="02020603050405020304" pitchFamily="18" charset="0"/>
              </a:rPr>
              <a:t>Requirement Analysis:</a:t>
            </a:r>
            <a:r>
              <a:rPr lang="en-US" sz="1800" dirty="0">
                <a:latin typeface="Times New Roman" panose="02020603050405020304" pitchFamily="18" charset="0"/>
                <a:cs typeface="Times New Roman" panose="02020603050405020304" pitchFamily="18" charset="0"/>
              </a:rPr>
              <a:t> Studied how blood banks operate and identified user needs (doctors, patients).</a:t>
            </a:r>
          </a:p>
          <a:p>
            <a:pPr>
              <a:lnSpc>
                <a:spcPct val="150000"/>
              </a:lnSpc>
              <a:buSzPct val="150000"/>
            </a:pPr>
            <a:r>
              <a:rPr lang="en-US" sz="1800" b="1" dirty="0">
                <a:latin typeface="Times New Roman" panose="02020603050405020304" pitchFamily="18" charset="0"/>
                <a:cs typeface="Times New Roman" panose="02020603050405020304" pitchFamily="18" charset="0"/>
              </a:rPr>
              <a:t>System Design:</a:t>
            </a:r>
            <a:r>
              <a:rPr lang="en-US" sz="1800" dirty="0">
                <a:latin typeface="Times New Roman" panose="02020603050405020304" pitchFamily="18" charset="0"/>
                <a:cs typeface="Times New Roman" panose="02020603050405020304" pitchFamily="18" charset="0"/>
              </a:rPr>
              <a:t> Planned structure using Java classes (Blood, patient Request).</a:t>
            </a:r>
          </a:p>
          <a:p>
            <a:pPr>
              <a:lnSpc>
                <a:spcPct val="150000"/>
              </a:lnSpc>
              <a:buSzPct val="150000"/>
            </a:pPr>
            <a:r>
              <a:rPr lang="en-US" sz="1800" b="1" dirty="0">
                <a:latin typeface="Times New Roman" panose="02020603050405020304" pitchFamily="18" charset="0"/>
                <a:cs typeface="Times New Roman" panose="02020603050405020304" pitchFamily="18" charset="0"/>
              </a:rPr>
              <a:t>Implementation:</a:t>
            </a:r>
            <a:r>
              <a:rPr lang="en-US" sz="1800" dirty="0">
                <a:latin typeface="Times New Roman" panose="02020603050405020304" pitchFamily="18" charset="0"/>
                <a:cs typeface="Times New Roman" panose="02020603050405020304" pitchFamily="18" charset="0"/>
              </a:rPr>
              <a:t> Developed modules using OOP and HashMap for data handling.</a:t>
            </a:r>
          </a:p>
          <a:p>
            <a:pPr>
              <a:lnSpc>
                <a:spcPct val="150000"/>
              </a:lnSpc>
              <a:buSzPct val="150000"/>
            </a:pPr>
            <a:r>
              <a:rPr lang="en-US" sz="1800" b="1" dirty="0">
                <a:latin typeface="Times New Roman" panose="02020603050405020304" pitchFamily="18" charset="0"/>
                <a:cs typeface="Times New Roman" panose="02020603050405020304" pitchFamily="18" charset="0"/>
              </a:rPr>
              <a:t>Testing:</a:t>
            </a:r>
            <a:r>
              <a:rPr lang="en-US" sz="1800" dirty="0">
                <a:latin typeface="Times New Roman" panose="02020603050405020304" pitchFamily="18" charset="0"/>
                <a:cs typeface="Times New Roman" panose="02020603050405020304" pitchFamily="18" charset="0"/>
              </a:rPr>
              <a:t> Verified all functions, handled invalid input, and ensured stability.</a:t>
            </a:r>
          </a:p>
          <a:p>
            <a:pPr>
              <a:lnSpc>
                <a:spcPct val="150000"/>
              </a:lnSpc>
              <a:buSzPct val="150000"/>
            </a:pPr>
            <a:r>
              <a:rPr lang="en-US" sz="1800" b="1" dirty="0">
                <a:latin typeface="Times New Roman" panose="02020603050405020304" pitchFamily="18" charset="0"/>
                <a:cs typeface="Times New Roman" panose="02020603050405020304" pitchFamily="18" charset="0"/>
              </a:rPr>
              <a:t>Documentation:</a:t>
            </a:r>
            <a:r>
              <a:rPr lang="en-US" sz="1800" dirty="0">
                <a:latin typeface="Times New Roman" panose="02020603050405020304" pitchFamily="18" charset="0"/>
                <a:cs typeface="Times New Roman" panose="02020603050405020304" pitchFamily="18" charset="0"/>
              </a:rPr>
              <a:t> Created SRS, report, and presentation.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dirty="0"/>
              <a:t>Conclusion</a:t>
            </a:r>
          </a:p>
        </p:txBody>
      </p:sp>
      <p:sp>
        <p:nvSpPr>
          <p:cNvPr id="3" name="Content Placeholder 2"/>
          <p:cNvSpPr>
            <a:spLocks noGrp="1"/>
          </p:cNvSpPr>
          <p:nvPr>
            <p:ph idx="1"/>
          </p:nvPr>
        </p:nvSpPr>
        <p:spPr/>
        <p:txBody>
          <a:bodyPr>
            <a:normAutofit/>
          </a:bodyPr>
          <a:lstStyle/>
          <a:p>
            <a:pPr algn="just">
              <a:lnSpc>
                <a:spcPct val="150000"/>
              </a:lnSpc>
              <a:buSzPct val="150000"/>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Blood Bank Management System</a:t>
            </a:r>
            <a:r>
              <a:rPr lang="en-US" sz="1800" dirty="0">
                <a:latin typeface="Times New Roman" panose="02020603050405020304" pitchFamily="18" charset="0"/>
                <a:cs typeface="Times New Roman" panose="02020603050405020304" pitchFamily="18" charset="0"/>
              </a:rPr>
              <a:t> automates the process of managing blood units efficiently.</a:t>
            </a:r>
          </a:p>
          <a:p>
            <a:pPr algn="just">
              <a:lnSpc>
                <a:spcPct val="150000"/>
              </a:lnSpc>
              <a:buSzPct val="150000"/>
            </a:pPr>
            <a:r>
              <a:rPr lang="en-US" sz="1800" dirty="0">
                <a:latin typeface="Times New Roman" panose="02020603050405020304" pitchFamily="18" charset="0"/>
                <a:cs typeface="Times New Roman" panose="02020603050405020304" pitchFamily="18" charset="0"/>
              </a:rPr>
              <a:t>It ensures accurate data handling, quick access, and error-free transactions for doctors, and patients.</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IN" sz="4400" dirty="0">
              <a:latin typeface="Times New Roman" panose="02020603050405020304" pitchFamily="18" charset="0"/>
              <a:cs typeface="Times New Roman" panose="02020603050405020304" pitchFamily="18" charset="0"/>
            </a:endParaRPr>
          </a:p>
          <a:p>
            <a:pPr marL="0" indent="0" algn="ctr">
              <a:buNone/>
            </a:pPr>
            <a:endParaRPr lang="en-IN" sz="4400" dirty="0">
              <a:latin typeface="Times New Roman" panose="02020603050405020304" pitchFamily="18" charset="0"/>
              <a:cs typeface="Times New Roman" panose="02020603050405020304" pitchFamily="18" charset="0"/>
            </a:endParaRPr>
          </a:p>
          <a:p>
            <a:pPr marL="0" indent="0" algn="ctr">
              <a:buNone/>
            </a:pPr>
            <a:r>
              <a:rPr lang="en-IN" sz="4400" dirty="0">
                <a:latin typeface="Times New Roman" panose="02020603050405020304" pitchFamily="18" charset="0"/>
                <a:cs typeface="Times New Roman" panose="02020603050405020304" pitchFamily="18" charset="0"/>
              </a:rPr>
              <a:t>Thank You!</a:t>
            </a:r>
            <a:endParaRPr sz="4400"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258</TotalTime>
  <Words>524</Words>
  <Application>Microsoft Office PowerPoint</Application>
  <PresentationFormat>On-screen Show (4:3)</PresentationFormat>
  <Paragraphs>73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Century Gothic</vt:lpstr>
      <vt:lpstr>Times New Roman</vt:lpstr>
      <vt:lpstr>Wingdings 3</vt:lpstr>
      <vt:lpstr>Wisp</vt:lpstr>
      <vt:lpstr>Blood Bank Management System</vt:lpstr>
      <vt:lpstr>Introduction</vt:lpstr>
      <vt:lpstr>Objective of the Project</vt:lpstr>
      <vt:lpstr>About the Project</vt:lpstr>
      <vt:lpstr>Project Details</vt:lpstr>
      <vt:lpstr>Major Modules</vt:lpstr>
      <vt:lpstr>PowerPoint Presentation</vt:lpstr>
      <vt:lpstr>PowerPoint Presentation</vt:lpstr>
      <vt:lpstr>PowerPoint Presentation</vt:lpstr>
      <vt:lpstr>PowerPoint Presentation</vt:lpstr>
      <vt:lpstr>Roles</vt:lpstr>
      <vt:lpstr>Duration</vt:lpstr>
      <vt:lpstr>Approach</vt:lpstr>
      <vt:lpstr>Reports</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Priyadharshini Maimohan(UST-HealthProof,IN)</dc:creator>
  <cp:keywords/>
  <dc:description>generated using python-pptx</dc:description>
  <cp:lastModifiedBy>Priyadharshini Maimohan(UST-HealthProof,IN)</cp:lastModifiedBy>
  <cp:revision>15</cp:revision>
  <dcterms:created xsi:type="dcterms:W3CDTF">2013-01-27T09:14:16Z</dcterms:created>
  <dcterms:modified xsi:type="dcterms:W3CDTF">2025-11-07T11:28:08Z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2025-11-07T07:10:28Z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3acad3dc-b15b-426c-b508-1cfa3bbd3db2</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